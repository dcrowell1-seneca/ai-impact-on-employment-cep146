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2" d="100"/>
          <a:sy n="102" d="100"/>
        </p:scale>
        <p:origin x="918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wight Crowell" userId="333f77173a18cc15" providerId="LiveId" clId="{5B432ADB-AD4E-4EB9-A96B-61FA7E40513C}"/>
    <pc:docChg chg="undo custSel modSld sldOrd">
      <pc:chgData name="Dwight Crowell" userId="333f77173a18cc15" providerId="LiveId" clId="{5B432ADB-AD4E-4EB9-A96B-61FA7E40513C}" dt="2026-04-01T17:35:21.122" v="141" actId="20577"/>
      <pc:docMkLst>
        <pc:docMk/>
      </pc:docMkLst>
      <pc:sldChg chg="modSp mod">
        <pc:chgData name="Dwight Crowell" userId="333f77173a18cc15" providerId="LiveId" clId="{5B432ADB-AD4E-4EB9-A96B-61FA7E40513C}" dt="2026-04-01T17:29:31.120" v="11" actId="20577"/>
        <pc:sldMkLst>
          <pc:docMk/>
          <pc:sldMk cId="0" sldId="257"/>
        </pc:sldMkLst>
        <pc:spChg chg="mod">
          <ac:chgData name="Dwight Crowell" userId="333f77173a18cc15" providerId="LiveId" clId="{5B432ADB-AD4E-4EB9-A96B-61FA7E40513C}" dt="2026-04-01T17:29:31.120" v="11" actId="20577"/>
          <ac:spMkLst>
            <pc:docMk/>
            <pc:sldMk cId="0" sldId="257"/>
            <ac:spMk id="13" creationId="{00000000-0000-0000-0000-000000000000}"/>
          </ac:spMkLst>
        </pc:spChg>
      </pc:sldChg>
      <pc:sldChg chg="modSp mod">
        <pc:chgData name="Dwight Crowell" userId="333f77173a18cc15" providerId="LiveId" clId="{5B432ADB-AD4E-4EB9-A96B-61FA7E40513C}" dt="2026-04-01T17:30:32.929" v="16" actId="1076"/>
        <pc:sldMkLst>
          <pc:docMk/>
          <pc:sldMk cId="0" sldId="258"/>
        </pc:sldMkLst>
        <pc:spChg chg="mod">
          <ac:chgData name="Dwight Crowell" userId="333f77173a18cc15" providerId="LiveId" clId="{5B432ADB-AD4E-4EB9-A96B-61FA7E40513C}" dt="2026-04-01T17:30:19.805" v="14" actId="1076"/>
          <ac:spMkLst>
            <pc:docMk/>
            <pc:sldMk cId="0" sldId="258"/>
            <ac:spMk id="14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0:32.929" v="16" actId="1076"/>
          <ac:spMkLst>
            <pc:docMk/>
            <pc:sldMk cId="0" sldId="258"/>
            <ac:spMk id="16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0:23.634" v="15" actId="1076"/>
          <ac:spMkLst>
            <pc:docMk/>
            <pc:sldMk cId="0" sldId="258"/>
            <ac:spMk id="17" creationId="{00000000-0000-0000-0000-000000000000}"/>
          </ac:spMkLst>
        </pc:spChg>
      </pc:sldChg>
      <pc:sldChg chg="modSp mod">
        <pc:chgData name="Dwight Crowell" userId="333f77173a18cc15" providerId="LiveId" clId="{5B432ADB-AD4E-4EB9-A96B-61FA7E40513C}" dt="2026-04-01T17:31:31.850" v="37" actId="20577"/>
        <pc:sldMkLst>
          <pc:docMk/>
          <pc:sldMk cId="0" sldId="259"/>
        </pc:sldMkLst>
        <pc:spChg chg="mod">
          <ac:chgData name="Dwight Crowell" userId="333f77173a18cc15" providerId="LiveId" clId="{5B432ADB-AD4E-4EB9-A96B-61FA7E40513C}" dt="2026-04-01T17:31:31.850" v="37" actId="20577"/>
          <ac:spMkLst>
            <pc:docMk/>
            <pc:sldMk cId="0" sldId="259"/>
            <ac:spMk id="3" creationId="{00000000-0000-0000-0000-000000000000}"/>
          </ac:spMkLst>
        </pc:spChg>
      </pc:sldChg>
      <pc:sldChg chg="ord">
        <pc:chgData name="Dwight Crowell" userId="333f77173a18cc15" providerId="LiveId" clId="{5B432ADB-AD4E-4EB9-A96B-61FA7E40513C}" dt="2026-04-01T17:31:06.474" v="18"/>
        <pc:sldMkLst>
          <pc:docMk/>
          <pc:sldMk cId="0" sldId="260"/>
        </pc:sldMkLst>
      </pc:sldChg>
      <pc:sldChg chg="modSp mod">
        <pc:chgData name="Dwight Crowell" userId="333f77173a18cc15" providerId="LiveId" clId="{5B432ADB-AD4E-4EB9-A96B-61FA7E40513C}" dt="2026-04-01T17:32:17.029" v="68" actId="20577"/>
        <pc:sldMkLst>
          <pc:docMk/>
          <pc:sldMk cId="0" sldId="261"/>
        </pc:sldMkLst>
        <pc:spChg chg="mod">
          <ac:chgData name="Dwight Crowell" userId="333f77173a18cc15" providerId="LiveId" clId="{5B432ADB-AD4E-4EB9-A96B-61FA7E40513C}" dt="2026-04-01T17:32:11.035" v="58" actId="20577"/>
          <ac:spMkLst>
            <pc:docMk/>
            <pc:sldMk cId="0" sldId="261"/>
            <ac:spMk id="3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2:17.029" v="68" actId="20577"/>
          <ac:spMkLst>
            <pc:docMk/>
            <pc:sldMk cId="0" sldId="261"/>
            <ac:spMk id="5" creationId="{00000000-0000-0000-0000-000000000000}"/>
          </ac:spMkLst>
        </pc:spChg>
      </pc:sldChg>
      <pc:sldChg chg="modSp mod">
        <pc:chgData name="Dwight Crowell" userId="333f77173a18cc15" providerId="LiveId" clId="{5B432ADB-AD4E-4EB9-A96B-61FA7E40513C}" dt="2026-04-01T17:33:42.663" v="79" actId="404"/>
        <pc:sldMkLst>
          <pc:docMk/>
          <pc:sldMk cId="0" sldId="262"/>
        </pc:sldMkLst>
        <pc:spChg chg="mod">
          <ac:chgData name="Dwight Crowell" userId="333f77173a18cc15" providerId="LiveId" clId="{5B432ADB-AD4E-4EB9-A96B-61FA7E40513C}" dt="2026-04-01T17:33:42.663" v="79" actId="404"/>
          <ac:spMkLst>
            <pc:docMk/>
            <pc:sldMk cId="0" sldId="262"/>
            <ac:spMk id="5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3:01.739" v="69" actId="1076"/>
          <ac:spMkLst>
            <pc:docMk/>
            <pc:sldMk cId="0" sldId="262"/>
            <ac:spMk id="7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3:30.357" v="78" actId="404"/>
          <ac:spMkLst>
            <pc:docMk/>
            <pc:sldMk cId="0" sldId="262"/>
            <ac:spMk id="9" creationId="{00000000-0000-0000-0000-000000000000}"/>
          </ac:spMkLst>
        </pc:spChg>
      </pc:sldChg>
      <pc:sldChg chg="modSp mod">
        <pc:chgData name="Dwight Crowell" userId="333f77173a18cc15" providerId="LiveId" clId="{5B432ADB-AD4E-4EB9-A96B-61FA7E40513C}" dt="2026-04-01T17:34:35.418" v="130" actId="20577"/>
        <pc:sldMkLst>
          <pc:docMk/>
          <pc:sldMk cId="0" sldId="263"/>
        </pc:sldMkLst>
        <pc:spChg chg="mod">
          <ac:chgData name="Dwight Crowell" userId="333f77173a18cc15" providerId="LiveId" clId="{5B432ADB-AD4E-4EB9-A96B-61FA7E40513C}" dt="2026-04-01T17:34:05.680" v="110" actId="20577"/>
          <ac:spMkLst>
            <pc:docMk/>
            <pc:sldMk cId="0" sldId="263"/>
            <ac:spMk id="3" creationId="{00000000-0000-0000-0000-000000000000}"/>
          </ac:spMkLst>
        </pc:spChg>
        <pc:spChg chg="mod">
          <ac:chgData name="Dwight Crowell" userId="333f77173a18cc15" providerId="LiveId" clId="{5B432ADB-AD4E-4EB9-A96B-61FA7E40513C}" dt="2026-04-01T17:34:35.418" v="130" actId="20577"/>
          <ac:spMkLst>
            <pc:docMk/>
            <pc:sldMk cId="0" sldId="263"/>
            <ac:spMk id="27" creationId="{00000000-0000-0000-0000-000000000000}"/>
          </ac:spMkLst>
        </pc:spChg>
      </pc:sldChg>
      <pc:sldChg chg="modSp mod">
        <pc:chgData name="Dwight Crowell" userId="333f77173a18cc15" providerId="LiveId" clId="{5B432ADB-AD4E-4EB9-A96B-61FA7E40513C}" dt="2026-04-01T17:35:21.122" v="141" actId="20577"/>
        <pc:sldMkLst>
          <pc:docMk/>
          <pc:sldMk cId="0" sldId="264"/>
        </pc:sldMkLst>
        <pc:spChg chg="mod">
          <ac:chgData name="Dwight Crowell" userId="333f77173a18cc15" providerId="LiveId" clId="{5B432ADB-AD4E-4EB9-A96B-61FA7E40513C}" dt="2026-04-01T17:35:21.122" v="141" actId="20577"/>
          <ac:spMkLst>
            <pc:docMk/>
            <pc:sldMk cId="0" sldId="264"/>
            <ac:spMk id="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23885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image: /mnt/data/AI Apocalypse.png
- Essay - The Impact of AI on Employment.docx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Outline - The Impact of AI on Employment.docx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image: /mnt/data/Sam Altman.png
- Essay - The Impact of AI on Employment.docx
- Bibliographic Information.docx (Spirlet 2025 / Business Insider)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image: /mnt/data/all jobs.png
- Bibliographic Information.docx (ILO 2025)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User-uploaded image: /mnt/data/Software engineers.png
- User-uploaded image: /mnt/data/garbage men.png
- Essay - The Impact of AI on Employment.docx
- Bibliographic Information.docx (ILO 2025)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Bibliographic Information.docx (Muro &amp; Liu 2025 / Brookings)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Bibliographic Information.docx (Muro &amp; Liu 2025 / Brookings)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Bibliographic Information.docx (Liu &amp; Muro 2026 / Brookings)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Outline - The Impact of AI on Employment.docx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Essay - The Impact of AI on Employment.docx
- Bibliographic Information.docx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Bibliographic Information.docx
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TURE">
    <p:bg>
      <p:bgPr>
        <a:solidFill>
          <a:srgbClr val="0A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noFill/>
          <a:ln w="12700">
            <a:solidFill>
              <a:srgbClr val="0A1020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noFill/>
          <a:ln w="12700">
            <a:solidFill>
              <a:srgbClr val="37D7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noFill/>
          <a:ln w="12700">
            <a:solidFill>
              <a:srgbClr val="8A4D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Shape 3"/>
          <p:cNvSpPr/>
          <p:nvPr/>
        </p:nvSpPr>
        <p:spPr>
          <a:xfrm>
            <a:off x="320040" y="658368"/>
            <a:ext cx="11430000" cy="0"/>
          </a:xfrm>
          <a:prstGeom prst="line">
            <a:avLst/>
          </a:prstGeom>
          <a:noFill/>
          <a:ln w="12700">
            <a:solidFill>
              <a:srgbClr val="2030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4"/>
          <p:cNvSpPr/>
          <p:nvPr/>
        </p:nvSpPr>
        <p:spPr>
          <a:xfrm>
            <a:off x="457200" y="164592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7D7FF"/>
                </a:solidFill>
              </a:rPr>
              <a:t>AI • EMPLOYMENT • DISPLACEMENT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9875520" y="16459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B7C3E0"/>
                </a:solidFill>
              </a:rPr>
              <a:t>Computer Science Presentation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I Apocalypse.png"/>
          <p:cNvPicPr>
            <a:picLocks noChangeAspect="1"/>
          </p:cNvPicPr>
          <p:nvPr/>
        </p:nvPicPr>
        <p:blipFill>
          <a:blip r:embed="rId3"/>
          <a:srcRect l="2131" r="2131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480560"/>
            <a:ext cx="12191695" cy="2377440"/>
          </a:xfrm>
          <a:prstGeom prst="rect">
            <a:avLst/>
          </a:prstGeom>
          <a:solidFill>
            <a:srgbClr val="08101F">
              <a:alpha val="82000"/>
            </a:srgbClr>
          </a:solidFill>
          <a:ln w="12700">
            <a:solidFill>
              <a:srgbClr val="08101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4" name="Text 1"/>
          <p:cNvSpPr/>
          <p:nvPr/>
        </p:nvSpPr>
        <p:spPr>
          <a:xfrm>
            <a:off x="658368" y="4572000"/>
            <a:ext cx="6126480" cy="914400"/>
          </a:xfrm>
          <a:prstGeom prst="rect">
            <a:avLst/>
          </a:prstGeom>
          <a:noFill/>
          <a:ln/>
          <a:effectLst>
            <a:outerShdw blurRad="25400" dist="12700" dir="2700000" algn="bl" rotWithShape="0">
              <a:srgbClr val="000000">
                <a:alpha val="40000"/>
              </a:srgbClr>
            </a:outerShdw>
          </a:effectLst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The Impact of AI</a:t>
            </a:r>
            <a:endParaRPr lang="en-US" sz="2500" dirty="0"/>
          </a:p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</a:rPr>
              <a:t>on Employment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694944" y="5532120"/>
            <a:ext cx="6858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4EBFF"/>
                </a:solidFill>
              </a:rPr>
              <a:t>Job displacement, labor-market stability, and whether an “AI apocalypse” is actually underway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8183880" y="4709160"/>
            <a:ext cx="3383280" cy="1417320"/>
          </a:xfrm>
          <a:prstGeom prst="roundRect">
            <a:avLst>
              <a:gd name="adj" fmla="val 3871"/>
            </a:avLst>
          </a:prstGeom>
          <a:solidFill>
            <a:srgbClr val="08101F">
              <a:alpha val="92000"/>
            </a:srgbClr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4"/>
          <p:cNvSpPr/>
          <p:nvPr/>
        </p:nvSpPr>
        <p:spPr>
          <a:xfrm>
            <a:off x="8412480" y="4919472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5A6B"/>
                </a:solidFill>
              </a:rPr>
              <a:t>THESIS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394192" y="5184648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FFFFFF"/>
                </a:solidFill>
              </a:rPr>
              <a:t>AI is disruptive, but current evidence suggests broad collapse is not inevitable or immediate.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Why this question matters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Public fears are real, but the evidence is more mixed than the headlines suggest.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97280"/>
            <a:ext cx="5486400" cy="4800600"/>
          </a:xfrm>
          <a:prstGeom prst="roundRect">
            <a:avLst>
              <a:gd name="adj" fmla="val 1524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667512" y="1207008"/>
            <a:ext cx="51572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Main concern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749808" y="1581912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950976" y="150876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Generative AI now performs some tasks once seen as “safe,” including coding and language work.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49808" y="2423160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950976" y="235000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That raises a common fear: large-scale job loss across many sectors.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49808" y="3264408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950976" y="3191256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But automation of tasks is not the same thing as mass unemployment.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236208" y="1097280"/>
            <a:ext cx="5440680" cy="4800600"/>
          </a:xfrm>
          <a:prstGeom prst="roundRect">
            <a:avLst>
              <a:gd name="adj" fmla="val 1524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400800" y="120700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Core argument 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473952" y="1581912"/>
            <a:ext cx="109728" cy="109728"/>
          </a:xfrm>
          <a:prstGeom prst="ellipse">
            <a:avLst/>
          </a:prstGeom>
          <a:solidFill>
            <a:srgbClr val="8A4DFF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675120" y="1508760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Recent labor-market research points to stability rather than collapse since ChatGPT launched.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6473952" y="2423160"/>
            <a:ext cx="109728" cy="109728"/>
          </a:xfrm>
          <a:prstGeom prst="ellipse">
            <a:avLst/>
          </a:prstGeom>
          <a:solidFill>
            <a:srgbClr val="8A4DFF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675120" y="2350008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Some occupations are clearly more exposed than others.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6473952" y="3264408"/>
            <a:ext cx="109728" cy="109728"/>
          </a:xfrm>
          <a:prstGeom prst="ellipse">
            <a:avLst/>
          </a:prstGeom>
          <a:solidFill>
            <a:srgbClr val="8A4DFF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6675120" y="3191256"/>
            <a:ext cx="47823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FF4FF"/>
                </a:solidFill>
              </a:rPr>
              <a:t>Even in a worse-case scenario, many highly exposed workers may still adapt successfully.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601968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E1730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6766560" y="41970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D7FF"/>
                </a:solidFill>
              </a:rPr>
              <a:t>2022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739128" y="45445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ChatGPT launch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942832" y="4069080"/>
            <a:ext cx="2148840" cy="1051560"/>
          </a:xfrm>
          <a:prstGeom prst="roundRect">
            <a:avLst>
              <a:gd name="adj" fmla="val 5217"/>
            </a:avLst>
          </a:prstGeom>
          <a:solidFill>
            <a:srgbClr val="0E1730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4" name="Text 22"/>
          <p:cNvSpPr/>
          <p:nvPr/>
        </p:nvSpPr>
        <p:spPr>
          <a:xfrm>
            <a:off x="9107424" y="4197096"/>
            <a:ext cx="18196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8A4DFF"/>
                </a:solidFill>
              </a:rPr>
              <a:t>2025–26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079992" y="4544568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Brookings evidence used</a:t>
            </a:r>
            <a:endParaRPr lang="en-US" sz="9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The “AI apocalypse” view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Sam Altman has warned that AI could replace work across large parts of the economy.</a:t>
            </a:r>
            <a:endParaRPr lang="en-US" sz="1050" dirty="0"/>
          </a:p>
        </p:txBody>
      </p:sp>
      <p:pic>
        <p:nvPicPr>
          <p:cNvPr id="4" name="Image 0" descr="/mnt/data/Sam Altman.png"/>
          <p:cNvPicPr>
            <a:picLocks noChangeAspect="1"/>
          </p:cNvPicPr>
          <p:nvPr/>
        </p:nvPicPr>
        <p:blipFill>
          <a:blip r:embed="rId3"/>
          <a:srcRect l="18909" r="18909"/>
          <a:stretch/>
        </p:blipFill>
        <p:spPr>
          <a:xfrm>
            <a:off x="594360" y="1170432"/>
            <a:ext cx="4160520" cy="44805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29200" y="1234440"/>
            <a:ext cx="6537960" cy="1920240"/>
          </a:xfrm>
          <a:prstGeom prst="roundRect">
            <a:avLst>
              <a:gd name="adj" fmla="val 2857"/>
            </a:avLst>
          </a:prstGeom>
          <a:solidFill>
            <a:srgbClr val="141E39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5349240" y="1554480"/>
            <a:ext cx="5897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i="1" dirty="0">
                <a:solidFill>
                  <a:srgbClr val="FFFFFF"/>
                </a:solidFill>
              </a:rPr>
              <a:t>“A lot of current customer support ... will lose their jobs, and that’ll be better done by AI.”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5367528" y="25786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6C4E0"/>
                </a:solidFill>
              </a:rPr>
              <a:t>— paraphrased from reporting on Sam Altman’s comments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5029200" y="342900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9" name="Text 6"/>
          <p:cNvSpPr/>
          <p:nvPr/>
        </p:nvSpPr>
        <p:spPr>
          <a:xfrm>
            <a:off x="5193792" y="3538728"/>
            <a:ext cx="2734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Why people take this seriously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5266944" y="3822192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8"/>
          <p:cNvSpPr/>
          <p:nvPr/>
        </p:nvSpPr>
        <p:spPr>
          <a:xfrm>
            <a:off x="5468112" y="3749040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4FF"/>
                </a:solidFill>
              </a:rPr>
              <a:t>Customer service is already being automated.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5266944" y="4352544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0"/>
          <p:cNvSpPr/>
          <p:nvPr/>
        </p:nvSpPr>
        <p:spPr>
          <a:xfrm>
            <a:off x="5468112" y="4279392"/>
            <a:ext cx="2359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4FF"/>
                </a:solidFill>
              </a:rPr>
              <a:t>Developers and programmers are now discussed as exposed too.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257032" y="3443800"/>
            <a:ext cx="3337560" cy="1828800"/>
          </a:xfrm>
          <a:prstGeom prst="roundRect">
            <a:avLst>
              <a:gd name="adj" fmla="val 4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2"/>
          <p:cNvSpPr/>
          <p:nvPr/>
        </p:nvSpPr>
        <p:spPr>
          <a:xfrm>
            <a:off x="8394192" y="3538728"/>
            <a:ext cx="3008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Example used in the essay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8440289" y="4041648"/>
            <a:ext cx="109728" cy="109728"/>
          </a:xfrm>
          <a:prstGeom prst="ellipse">
            <a:avLst/>
          </a:prstGeom>
          <a:solidFill>
            <a:srgbClr val="FF5A6B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 dirty="0"/>
          </a:p>
        </p:txBody>
      </p:sp>
      <p:sp>
        <p:nvSpPr>
          <p:cNvPr id="17" name="Text 14"/>
          <p:cNvSpPr/>
          <p:nvPr/>
        </p:nvSpPr>
        <p:spPr>
          <a:xfrm>
            <a:off x="8659368" y="3977640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FF4FF"/>
                </a:solidFill>
              </a:rPr>
              <a:t>Salesforce reportedly cut 4,000 support roles in pursuit of AI efficiency gains.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Across the whole labor market, exposure is distributed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The ILO chart shows a spectrum from minimal exposure to the highest-exposure occupations.</a:t>
            </a:r>
            <a:endParaRPr lang="en-US" sz="1050" dirty="0"/>
          </a:p>
        </p:txBody>
      </p:sp>
      <p:pic>
        <p:nvPicPr>
          <p:cNvPr id="4" name="Image 0" descr="/mnt/data/all jo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93068"/>
            <a:ext cx="7498080" cy="466622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321040" y="1261872"/>
            <a:ext cx="3246120" cy="4754880"/>
          </a:xfrm>
          <a:prstGeom prst="roundRect">
            <a:avLst>
              <a:gd name="adj" fmla="val 2254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6" name="Text 3"/>
          <p:cNvSpPr/>
          <p:nvPr/>
        </p:nvSpPr>
        <p:spPr>
          <a:xfrm>
            <a:off x="8485632" y="1371600"/>
            <a:ext cx="2916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How to read the chart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8577072" y="1755648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5"/>
          <p:cNvSpPr/>
          <p:nvPr/>
        </p:nvSpPr>
        <p:spPr>
          <a:xfrm>
            <a:off x="8778240" y="1682496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FF4FF"/>
                </a:solidFill>
              </a:rPr>
              <a:t>Right side = higher average automation exposure.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8577072" y="2514600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8778240" y="2441448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FF4FF"/>
                </a:solidFill>
              </a:rPr>
              <a:t>Higher position = more variability across tasks in the same occupation.</a:t>
            </a:r>
            <a:endParaRPr lang="en-US" sz="1320" dirty="0"/>
          </a:p>
        </p:txBody>
      </p:sp>
      <p:sp>
        <p:nvSpPr>
          <p:cNvPr id="11" name="Shape 8"/>
          <p:cNvSpPr/>
          <p:nvPr/>
        </p:nvSpPr>
        <p:spPr>
          <a:xfrm>
            <a:off x="8577072" y="3273552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2" name="Text 9"/>
          <p:cNvSpPr/>
          <p:nvPr/>
        </p:nvSpPr>
        <p:spPr>
          <a:xfrm>
            <a:off x="8778240" y="3200400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FF4FF"/>
                </a:solidFill>
              </a:rPr>
              <a:t>Software roles sit well to the right, but not every task inside them is equally automatable.</a:t>
            </a:r>
            <a:endParaRPr lang="en-US" sz="1320" dirty="0"/>
          </a:p>
        </p:txBody>
      </p:sp>
      <p:sp>
        <p:nvSpPr>
          <p:cNvPr id="13" name="Shape 10"/>
          <p:cNvSpPr/>
          <p:nvPr/>
        </p:nvSpPr>
        <p:spPr>
          <a:xfrm>
            <a:off x="8577072" y="4032504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1"/>
          <p:cNvSpPr/>
          <p:nvPr/>
        </p:nvSpPr>
        <p:spPr>
          <a:xfrm>
            <a:off x="8778240" y="3959352"/>
            <a:ext cx="2542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20" dirty="0">
                <a:solidFill>
                  <a:srgbClr val="EFF4FF"/>
                </a:solidFill>
              </a:rPr>
              <a:t>Many occupations cluster in lower- to middle-exposure territory.</a:t>
            </a:r>
            <a:endParaRPr lang="en-US" sz="13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Not all jobs face the same level of exposure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Here we contrast highly exposed knowledge work with lower-exposure manual labor.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66928" y="1170432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731520" y="128016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Higher-exposure example</a:t>
            </a:r>
            <a:endParaRPr lang="en-US" sz="1050" dirty="0"/>
          </a:p>
        </p:txBody>
      </p:sp>
      <p:pic>
        <p:nvPicPr>
          <p:cNvPr id="6" name="Image 0" descr="/mnt/data/Software engine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738097"/>
            <a:ext cx="3200400" cy="187304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8680" y="385876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Software developers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04672" y="4160520"/>
            <a:ext cx="3154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4E0"/>
                </a:solidFill>
              </a:rPr>
              <a:t>ILO visualization: significant exposure, high task variability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79392" y="1170432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0" name="Text 7"/>
          <p:cNvSpPr/>
          <p:nvPr/>
        </p:nvSpPr>
        <p:spPr>
          <a:xfrm>
            <a:off x="4443984" y="128016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Lower-exposure example</a:t>
            </a:r>
            <a:endParaRPr lang="en-US" sz="1050" dirty="0"/>
          </a:p>
        </p:txBody>
      </p:sp>
      <p:pic>
        <p:nvPicPr>
          <p:cNvPr id="11" name="Image 1" descr="/mnt/data/garbage m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17136" y="1759960"/>
            <a:ext cx="3200400" cy="1829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35424" y="3858768"/>
            <a:ext cx="3063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Garbage &amp; recycling collectors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26280" y="4160520"/>
            <a:ext cx="3063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B6C4E0"/>
                </a:solidFill>
              </a:rPr>
              <a:t>ILO visualization: not exposed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8001000" y="1170432"/>
            <a:ext cx="3657600" cy="4983480"/>
          </a:xfrm>
          <a:prstGeom prst="roundRect">
            <a:avLst>
              <a:gd name="adj" fmla="val 2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5" name="Text 11"/>
          <p:cNvSpPr/>
          <p:nvPr/>
        </p:nvSpPr>
        <p:spPr>
          <a:xfrm>
            <a:off x="8165592" y="1280160"/>
            <a:ext cx="33284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Takeaway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247888" y="1737360"/>
            <a:ext cx="109728" cy="10972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3"/>
          <p:cNvSpPr/>
          <p:nvPr/>
        </p:nvSpPr>
        <p:spPr>
          <a:xfrm>
            <a:off x="8449056" y="166420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FF4FF"/>
                </a:solidFill>
              </a:rPr>
              <a:t>Routine, digital, and language-heavy tasks tend to be more exposed.</a:t>
            </a:r>
            <a:endParaRPr lang="en-US" sz="1450" dirty="0"/>
          </a:p>
        </p:txBody>
      </p:sp>
      <p:sp>
        <p:nvSpPr>
          <p:cNvPr id="18" name="Shape 14"/>
          <p:cNvSpPr/>
          <p:nvPr/>
        </p:nvSpPr>
        <p:spPr>
          <a:xfrm>
            <a:off x="8247888" y="2560320"/>
            <a:ext cx="109728" cy="10972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5"/>
          <p:cNvSpPr/>
          <p:nvPr/>
        </p:nvSpPr>
        <p:spPr>
          <a:xfrm>
            <a:off x="8449056" y="248716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FF4FF"/>
                </a:solidFill>
              </a:rPr>
              <a:t>Physical, hands-on, and context-rich jobs often remain harder to automate.</a:t>
            </a:r>
            <a:endParaRPr lang="en-US" sz="1450" dirty="0"/>
          </a:p>
        </p:txBody>
      </p:sp>
      <p:sp>
        <p:nvSpPr>
          <p:cNvPr id="20" name="Shape 16"/>
          <p:cNvSpPr/>
          <p:nvPr/>
        </p:nvSpPr>
        <p:spPr>
          <a:xfrm>
            <a:off x="8247888" y="3383280"/>
            <a:ext cx="109728" cy="10972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7"/>
          <p:cNvSpPr/>
          <p:nvPr/>
        </p:nvSpPr>
        <p:spPr>
          <a:xfrm>
            <a:off x="8449056" y="3310128"/>
            <a:ext cx="29535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FF4FF"/>
                </a:solidFill>
              </a:rPr>
              <a:t>Exposure means risk of disruption — not guaranteed replacement.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The counterargument: no jobs apocalypse — for now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Muro and Sifan (2025) finds broad labor-market stability rather than immediate disruption since ChatGPT’s release.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188720"/>
            <a:ext cx="5440680" cy="1828800"/>
          </a:xfrm>
          <a:prstGeom prst="roundRect">
            <a:avLst>
              <a:gd name="adj" fmla="val 4000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04672" y="1298448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Muro-Sifan hypothesis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68680" y="1618488"/>
            <a:ext cx="4983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If generative AI were automating jobs at scale already, we would expect fewer workers in the occupations most exposed to automation.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640080" y="3273552"/>
            <a:ext cx="5440680" cy="2148840"/>
          </a:xfrm>
          <a:prstGeom prst="roundRect">
            <a:avLst>
              <a:gd name="adj" fmla="val 3404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804672" y="3383280"/>
            <a:ext cx="5111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What the study reports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68680" y="3675888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Instead, the percentage of workers in high-, medium-, and low-exposure occupations has stayed remarkably steady over time.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6355080" y="1188720"/>
            <a:ext cx="5166360" cy="4233672"/>
          </a:xfrm>
          <a:prstGeom prst="roundRect">
            <a:avLst>
              <a:gd name="adj" fmla="val 1728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519672" y="1298448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What this means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583680" y="1737360"/>
            <a:ext cx="109728" cy="109728"/>
          </a:xfrm>
          <a:prstGeom prst="ellipse">
            <a:avLst/>
          </a:prstGeom>
          <a:solidFill>
            <a:srgbClr val="4BE0B3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6784848" y="1664208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F4FF"/>
                </a:solidFill>
              </a:rPr>
              <a:t>The strongest collapse narrative is not supported by recent labor-market data.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2670048"/>
            <a:ext cx="109728" cy="109728"/>
          </a:xfrm>
          <a:prstGeom prst="ellipse">
            <a:avLst/>
          </a:prstGeom>
          <a:solidFill>
            <a:srgbClr val="4BE0B3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6784848" y="2596896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F4FF"/>
                </a:solidFill>
              </a:rPr>
              <a:t>AI may be changing tasks inside jobs without yet eliminating jobs at scale.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583680" y="3602736"/>
            <a:ext cx="109728" cy="109728"/>
          </a:xfrm>
          <a:prstGeom prst="ellipse">
            <a:avLst/>
          </a:prstGeom>
          <a:solidFill>
            <a:srgbClr val="4BE0B3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6784848" y="3529584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FF4FF"/>
                </a:solidFill>
              </a:rPr>
              <a:t>So the best conclusion is caution: disruption is possible, but not proven as a present-day collapse.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Two important caveats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Stability today does not guarantee stability tomorrow.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731520" y="1280160"/>
            <a:ext cx="5303520" cy="4480560"/>
          </a:xfrm>
          <a:prstGeom prst="roundRect">
            <a:avLst>
              <a:gd name="adj" fmla="val 1633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96112" y="1389888"/>
            <a:ext cx="4974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D7FF"/>
                </a:solidFill>
              </a:rPr>
              <a:t>Caveat 1: technological change can be slow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978408" y="182880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</a:rPr>
              <a:t>Past general-purpose technologies — like computers and the internet — took years or decades to reshape the workplace fully.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78408" y="3190973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7D7FF"/>
                </a:solidFill>
              </a:rPr>
              <a:t>So today’s data may be suggestive rather than decisive.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309360" y="1280160"/>
            <a:ext cx="5166360" cy="4480560"/>
          </a:xfrm>
          <a:prstGeom prst="roundRect">
            <a:avLst>
              <a:gd name="adj" fmla="val 1633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 dirty="0"/>
          </a:p>
        </p:txBody>
      </p:sp>
      <p:sp>
        <p:nvSpPr>
          <p:cNvPr id="9" name="Text 7"/>
          <p:cNvSpPr/>
          <p:nvPr/>
        </p:nvSpPr>
        <p:spPr>
          <a:xfrm>
            <a:off x="6473952" y="1389888"/>
            <a:ext cx="4837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7D7FF"/>
                </a:solidFill>
              </a:rPr>
              <a:t>Caveat 2: early-career workers may be more vulnerable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65392" y="1828800"/>
            <a:ext cx="46177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dirty="0">
                <a:solidFill>
                  <a:srgbClr val="FFFFFF"/>
                </a:solidFill>
              </a:rPr>
              <a:t>The essay notes emerging evidence that AI may be contributing to unemployment among early-career workers, even if the broader labor market still looks stable.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6565392" y="3383280"/>
            <a:ext cx="4434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B84D"/>
                </a:solidFill>
              </a:rPr>
              <a:t>Bottom line: “no apocalypse yet” is not the same as “no risk.”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Worst-case scenario: can displaced workers adapt?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Sifan and Muro (2026) argue that many highly exposed workers also have strong adaptive capacity.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868680" y="1417320"/>
            <a:ext cx="2743200" cy="1261872"/>
          </a:xfrm>
          <a:prstGeom prst="roundRect">
            <a:avLst>
              <a:gd name="adj" fmla="val 4348"/>
            </a:avLst>
          </a:prstGeom>
          <a:solidFill>
            <a:srgbClr val="0E1730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33272" y="1545336"/>
            <a:ext cx="24140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5A6B"/>
                </a:solidFill>
              </a:rPr>
              <a:t>37.1M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05840" y="189280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workers in the top quartile of AI exposure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886200" y="1417320"/>
            <a:ext cx="2286000" cy="1261872"/>
          </a:xfrm>
          <a:prstGeom prst="roundRect">
            <a:avLst>
              <a:gd name="adj" fmla="val 4348"/>
            </a:avLst>
          </a:prstGeom>
          <a:solidFill>
            <a:srgbClr val="0E1730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8" name="Text 6"/>
          <p:cNvSpPr/>
          <p:nvPr/>
        </p:nvSpPr>
        <p:spPr>
          <a:xfrm>
            <a:off x="4050792" y="154533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BE0B3"/>
                </a:solidFill>
              </a:rPr>
              <a:t>26.5M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02336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of them also have above-median adaptive capacity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46520" y="1417320"/>
            <a:ext cx="2286000" cy="1261872"/>
          </a:xfrm>
          <a:prstGeom prst="roundRect">
            <a:avLst>
              <a:gd name="adj" fmla="val 4348"/>
            </a:avLst>
          </a:prstGeom>
          <a:solidFill>
            <a:srgbClr val="0E1730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6611112" y="154533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B84D"/>
                </a:solidFill>
              </a:rPr>
              <a:t>6.1M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face both high exposure and low adaptive capacity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006840" y="1417320"/>
            <a:ext cx="2286000" cy="1261872"/>
          </a:xfrm>
          <a:prstGeom prst="roundRect">
            <a:avLst>
              <a:gd name="adj" fmla="val 4348"/>
            </a:avLst>
          </a:prstGeom>
          <a:solidFill>
            <a:srgbClr val="0E1730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4" name="Text 12"/>
          <p:cNvSpPr/>
          <p:nvPr/>
        </p:nvSpPr>
        <p:spPr>
          <a:xfrm>
            <a:off x="9171432" y="1545336"/>
            <a:ext cx="19568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D7FF"/>
                </a:solidFill>
              </a:rPr>
              <a:t>4.2%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0" y="189280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B6C4E0"/>
                </a:solidFill>
              </a:rPr>
              <a:t>of the workforce in the sample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777240" y="3017520"/>
            <a:ext cx="5349240" cy="2514600"/>
          </a:xfrm>
          <a:prstGeom prst="roundRect">
            <a:avLst>
              <a:gd name="adj" fmla="val 2909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941832" y="3127248"/>
            <a:ext cx="5020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Why adaptation may be possible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005840" y="3547872"/>
            <a:ext cx="109728" cy="109728"/>
          </a:xfrm>
          <a:prstGeom prst="ellipse">
            <a:avLst/>
          </a:prstGeom>
          <a:solidFill>
            <a:srgbClr val="4BE0B3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1207008" y="3474720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Many high-exposure roles are held by skilled, financially secure, and well-networked workers.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1005840" y="4297680"/>
            <a:ext cx="109728" cy="109728"/>
          </a:xfrm>
          <a:prstGeom prst="ellipse">
            <a:avLst/>
          </a:prstGeom>
          <a:solidFill>
            <a:srgbClr val="4BE0B3"/>
          </a:solidFill>
          <a:ln w="12700">
            <a:solidFill>
              <a:srgbClr val="4BE0B3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1207008" y="4224528"/>
            <a:ext cx="46451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Those advantages can make career transitions easier if displacement occurs.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355080" y="3017520"/>
            <a:ext cx="5074920" cy="2514600"/>
          </a:xfrm>
          <a:prstGeom prst="roundRect">
            <a:avLst>
              <a:gd name="adj" fmla="val 2909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3" name="Text 21"/>
          <p:cNvSpPr/>
          <p:nvPr/>
        </p:nvSpPr>
        <p:spPr>
          <a:xfrm>
            <a:off x="6519672" y="3127248"/>
            <a:ext cx="47457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Who may struggle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583680" y="3547872"/>
            <a:ext cx="109728" cy="10972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5" name="Text 23"/>
          <p:cNvSpPr/>
          <p:nvPr/>
        </p:nvSpPr>
        <p:spPr>
          <a:xfrm>
            <a:off x="6784848" y="3474720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Some workers face a double risk: high exposure plus low adaptive capacity.</a:t>
            </a:r>
            <a:endParaRPr lang="en-US" sz="1550" dirty="0"/>
          </a:p>
        </p:txBody>
      </p:sp>
      <p:sp>
        <p:nvSpPr>
          <p:cNvPr id="26" name="Shape 24"/>
          <p:cNvSpPr/>
          <p:nvPr/>
        </p:nvSpPr>
        <p:spPr>
          <a:xfrm>
            <a:off x="6583680" y="4297680"/>
            <a:ext cx="109728" cy="109728"/>
          </a:xfrm>
          <a:prstGeom prst="ellipse">
            <a:avLst/>
          </a:prstGeom>
          <a:solidFill>
            <a:srgbClr val="FFB84D"/>
          </a:solidFill>
          <a:ln w="12700">
            <a:solidFill>
              <a:srgbClr val="FFB84D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27" name="Text 25"/>
          <p:cNvSpPr/>
          <p:nvPr/>
        </p:nvSpPr>
        <p:spPr>
          <a:xfrm>
            <a:off x="6784848" y="4224528"/>
            <a:ext cx="4416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These vulnerable workers are concentrated especially in clerical and administrative roles.</a:t>
            </a:r>
            <a:endParaRPr lang="en-US" sz="155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So what should computer science students take from this?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Exposure is real, but the bigger story is changing work, not instant replacement.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04672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For developers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868680" y="1764792"/>
            <a:ext cx="109728" cy="109728"/>
          </a:xfrm>
          <a:prstGeom prst="ellipse">
            <a:avLst/>
          </a:prstGeom>
          <a:solidFill>
            <a:srgbClr val="FF5A6B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069848" y="169164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EFF4FF"/>
                </a:solidFill>
              </a:rPr>
              <a:t>Programming is exposed because parts of the workflow are automatable.</a:t>
            </a:r>
            <a:endParaRPr lang="en-US" sz="1470" dirty="0"/>
          </a:p>
        </p:txBody>
      </p:sp>
      <p:sp>
        <p:nvSpPr>
          <p:cNvPr id="8" name="Shape 6"/>
          <p:cNvSpPr/>
          <p:nvPr/>
        </p:nvSpPr>
        <p:spPr>
          <a:xfrm>
            <a:off x="868680" y="2606040"/>
            <a:ext cx="109728" cy="109728"/>
          </a:xfrm>
          <a:prstGeom prst="ellipse">
            <a:avLst/>
          </a:prstGeom>
          <a:solidFill>
            <a:srgbClr val="FF5A6B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069848" y="253288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EFF4FF"/>
                </a:solidFill>
              </a:rPr>
              <a:t>But software work is varied: architecture, judgment, debugging, communication, and domain knowledge still matter.</a:t>
            </a:r>
            <a:endParaRPr lang="en-US" sz="1470" dirty="0"/>
          </a:p>
        </p:txBody>
      </p:sp>
      <p:sp>
        <p:nvSpPr>
          <p:cNvPr id="10" name="Shape 8"/>
          <p:cNvSpPr/>
          <p:nvPr/>
        </p:nvSpPr>
        <p:spPr>
          <a:xfrm>
            <a:off x="868680" y="3447288"/>
            <a:ext cx="109728" cy="109728"/>
          </a:xfrm>
          <a:prstGeom prst="ellipse">
            <a:avLst/>
          </a:prstGeom>
          <a:solidFill>
            <a:srgbClr val="FF5A6B"/>
          </a:solidFill>
          <a:ln w="12700">
            <a:solidFill>
              <a:srgbClr val="FF5A6B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069848" y="337413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70" dirty="0">
                <a:solidFill>
                  <a:srgbClr val="EFF4FF"/>
                </a:solidFill>
              </a:rPr>
              <a:t>The likely short-term effect is job redesign and productivity change, not total disappearance.</a:t>
            </a:r>
            <a:endParaRPr lang="en-US" sz="1470" dirty="0"/>
          </a:p>
        </p:txBody>
      </p:sp>
      <p:sp>
        <p:nvSpPr>
          <p:cNvPr id="12" name="Shape 10"/>
          <p:cNvSpPr/>
          <p:nvPr/>
        </p:nvSpPr>
        <p:spPr>
          <a:xfrm>
            <a:off x="4370832" y="1234440"/>
            <a:ext cx="3566160" cy="4480560"/>
          </a:xfrm>
          <a:prstGeom prst="roundRect">
            <a:avLst>
              <a:gd name="adj" fmla="val 2051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4535424" y="1344168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Practical implication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90288" y="1810512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5" name="Text 13"/>
          <p:cNvSpPr/>
          <p:nvPr/>
        </p:nvSpPr>
        <p:spPr>
          <a:xfrm>
            <a:off x="4791456" y="1737360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Learn to use AI tools well.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4590288" y="2651760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7" name="Text 15"/>
          <p:cNvSpPr/>
          <p:nvPr/>
        </p:nvSpPr>
        <p:spPr>
          <a:xfrm>
            <a:off x="4791456" y="2578608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Build strengths in problem framing, systems thinking, and collaboration.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4590288" y="3493008"/>
            <a:ext cx="109728" cy="109728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9" name="Text 17"/>
          <p:cNvSpPr/>
          <p:nvPr/>
        </p:nvSpPr>
        <p:spPr>
          <a:xfrm>
            <a:off x="4791456" y="3419856"/>
            <a:ext cx="29077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EFF4FF"/>
                </a:solidFill>
              </a:rPr>
              <a:t>Treat AI as part of your workflow — and as a force shaping the market.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101584" y="1234440"/>
            <a:ext cx="3429000" cy="4480560"/>
          </a:xfrm>
          <a:prstGeom prst="roundRect">
            <a:avLst>
              <a:gd name="adj" fmla="val 2133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21" name="Text 19"/>
          <p:cNvSpPr/>
          <p:nvPr/>
        </p:nvSpPr>
        <p:spPr>
          <a:xfrm>
            <a:off x="8266176" y="1344168"/>
            <a:ext cx="3099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Balanced conclusion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39328" y="1783080"/>
            <a:ext cx="2971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This study rejects panic, not risk.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</a:rPr>
              <a:t>AI may disrupt employment over time, but the available evidence points to a slower, more uneven transition than “apocalypse” language suggests.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The strongest claim supported by the materials is cautious realism.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914400" y="1417320"/>
            <a:ext cx="10287000" cy="4434840"/>
          </a:xfrm>
          <a:prstGeom prst="roundRect">
            <a:avLst>
              <a:gd name="adj" fmla="val 1649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1078992" y="1527048"/>
            <a:ext cx="99578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Bottom line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234440" y="1920240"/>
            <a:ext cx="96012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37D7FF"/>
                </a:solidFill>
              </a:rPr>
              <a:t>1. </a:t>
            </a:r>
            <a:r>
              <a:rPr lang="en-US" sz="2100" dirty="0">
                <a:solidFill>
                  <a:srgbClr val="FFFFFF"/>
                </a:solidFill>
              </a:rPr>
              <a:t>AI is already affecting some occupations and making replacement fears understandable.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37D7FF"/>
                </a:solidFill>
              </a:rPr>
              <a:t>2. 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</a:rPr>
              <a:t>Current research does not show a broad labor-market collapse since ChatGPT’s release.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37D7FF"/>
                </a:solidFill>
              </a:rPr>
              <a:t>3. 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</a:rPr>
              <a:t>Future disruption remains possible, especially for early-career and lower-adaptability workers.</a:t>
            </a:r>
            <a:endParaRPr lang="en-US" sz="2100" dirty="0"/>
          </a:p>
          <a:p>
            <a:pPr marL="0" indent="0">
              <a:buNone/>
            </a:pPr>
            <a:r>
              <a:rPr lang="en-US" sz="2100" b="1" dirty="0">
                <a:solidFill>
                  <a:srgbClr val="37D7FF"/>
                </a:solidFill>
              </a:rPr>
              <a:t>4. </a:t>
            </a:r>
            <a:endParaRPr lang="en-US" sz="2100" dirty="0"/>
          </a:p>
          <a:p>
            <a:pPr marL="0" indent="0">
              <a:buNone/>
            </a:pPr>
            <a:r>
              <a:rPr lang="en-US" sz="2100" dirty="0">
                <a:solidFill>
                  <a:srgbClr val="FFFFFF"/>
                </a:solidFill>
              </a:rPr>
              <a:t>For CS students, the key response is adaptation: pair technical skill with judgment, flexibility, and AI literacy.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261872" y="4983480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B84D"/>
                </a:solidFill>
              </a:rPr>
              <a:t>AI may transform jobs — but “transformation” is not the same thing as immediate mass unemployment.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75488" y="310896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FF4FF"/>
                </a:solidFill>
              </a:rPr>
              <a:t>Bibliography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02920" y="731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6C4E0"/>
                </a:solidFill>
              </a:rPr>
              <a:t>Sources supplied with the assignment materials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658368" y="1143000"/>
            <a:ext cx="10972800" cy="5212080"/>
          </a:xfrm>
          <a:prstGeom prst="roundRect">
            <a:avLst>
              <a:gd name="adj" fmla="val 1404"/>
            </a:avLst>
          </a:prstGeom>
          <a:solidFill>
            <a:srgbClr val="121A2F">
              <a:alpha val="97000"/>
            </a:srgbClr>
          </a:solidFill>
          <a:ln w="12700">
            <a:solidFill>
              <a:srgbClr val="253659"/>
            </a:solidFill>
            <a:prstDash val="solid"/>
          </a:ln>
          <a:effectLst>
            <a:outerShdw blurRad="25400" dist="12700" dir="2700000" algn="bl" rotWithShape="0">
              <a:srgbClr val="000000">
                <a:alpha val="22000"/>
              </a:srgbClr>
            </a:outerShdw>
          </a:effectLst>
        </p:spPr>
        <p:txBody>
          <a:bodyPr/>
          <a:lstStyle/>
          <a:p>
            <a:endParaRPr lang="en-CA"/>
          </a:p>
        </p:txBody>
      </p:sp>
      <p:sp>
        <p:nvSpPr>
          <p:cNvPr id="5" name="Text 3"/>
          <p:cNvSpPr/>
          <p:nvPr/>
        </p:nvSpPr>
        <p:spPr>
          <a:xfrm>
            <a:off x="822960" y="1252728"/>
            <a:ext cx="106436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37D7FF"/>
                </a:solidFill>
              </a:rPr>
              <a:t>Works cited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914400" y="1664208"/>
            <a:ext cx="91440" cy="91440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7" name="Text 5"/>
          <p:cNvSpPr/>
          <p:nvPr/>
        </p:nvSpPr>
        <p:spPr>
          <a:xfrm>
            <a:off x="1097280" y="15361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International Labour Organization. Generative AI and Jobs: A Refined Global Index of Occupational Exposure. Geneva: ILO, May 20, 2025.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2578608"/>
            <a:ext cx="91440" cy="91440"/>
          </a:xfrm>
          <a:prstGeom prst="ellipse">
            <a:avLst/>
          </a:prstGeom>
          <a:solidFill>
            <a:srgbClr val="8A4DFF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9" name="Text 7"/>
          <p:cNvSpPr/>
          <p:nvPr/>
        </p:nvSpPr>
        <p:spPr>
          <a:xfrm>
            <a:off x="1097280" y="24505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Liu, Sifan, and Mark Muro. “Measuring US Workers’ Capacity to Adapt to AI-Driven Job Displacement.” Brookings, January 21, 2026.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493008"/>
            <a:ext cx="91440" cy="91440"/>
          </a:xfrm>
          <a:prstGeom prst="ellipse">
            <a:avLst/>
          </a:prstGeom>
          <a:solidFill>
            <a:srgbClr val="37D7FF"/>
          </a:solidFill>
          <a:ln w="12700">
            <a:solidFill>
              <a:srgbClr val="37D7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1" name="Text 9"/>
          <p:cNvSpPr/>
          <p:nvPr/>
        </p:nvSpPr>
        <p:spPr>
          <a:xfrm>
            <a:off x="1097280" y="33649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Muro, Mark, and Sifan Liu. “New Data Show No AI Jobs Apocalypse—for Now.” Brookings, October 1, 2025.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407408"/>
            <a:ext cx="91440" cy="91440"/>
          </a:xfrm>
          <a:prstGeom prst="ellipse">
            <a:avLst/>
          </a:prstGeom>
          <a:solidFill>
            <a:srgbClr val="8A4DFF"/>
          </a:solidFill>
          <a:ln w="12700">
            <a:solidFill>
              <a:srgbClr val="8A4DFF"/>
            </a:solidFill>
            <a:prstDash val="solid"/>
          </a:ln>
        </p:spPr>
        <p:txBody>
          <a:bodyPr/>
          <a:lstStyle/>
          <a:p>
            <a:endParaRPr lang="en-CA"/>
          </a:p>
        </p:txBody>
      </p:sp>
      <p:sp>
        <p:nvSpPr>
          <p:cNvPr id="13" name="Text 11"/>
          <p:cNvSpPr/>
          <p:nvPr/>
        </p:nvSpPr>
        <p:spPr>
          <a:xfrm>
            <a:off x="1097280" y="4279392"/>
            <a:ext cx="9966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</a:rPr>
              <a:t>Spirlet, Thibault. “Sam Altman Predicts AI Will Take Customer Service Jobs First — and Speed up a ‘Historical’ Rate of Job Turnover.” Business Insider, September 11, 2025.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12880" y="6492240"/>
            <a:ext cx="27432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800">
                <a:solidFill>
                  <a:srgbClr val="7E8AA7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1517</Words>
  <Application>Microsoft Office PowerPoint</Application>
  <PresentationFormat>Widescreen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Aptos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Impact of AI on Employment and Job Displacement</dc:title>
  <dc:subject>Impact of AI on Employment and Job Displacement</dc:subject>
  <dc:creator>OpenAI</dc:creator>
  <cp:lastModifiedBy>Dwight Crowell</cp:lastModifiedBy>
  <cp:revision>1</cp:revision>
  <dcterms:created xsi:type="dcterms:W3CDTF">2026-04-01T17:11:59Z</dcterms:created>
  <dcterms:modified xsi:type="dcterms:W3CDTF">2026-04-01T17:35:28Z</dcterms:modified>
</cp:coreProperties>
</file>